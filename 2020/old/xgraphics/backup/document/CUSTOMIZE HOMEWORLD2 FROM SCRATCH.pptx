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0" r:id="rId4"/>
    <p:sldId id="258" r:id="rId5"/>
    <p:sldId id="288" r:id="rId6"/>
    <p:sldId id="267" r:id="rId7"/>
    <p:sldId id="260" r:id="rId8"/>
    <p:sldId id="259" r:id="rId9"/>
    <p:sldId id="266" r:id="rId10"/>
    <p:sldId id="278" r:id="rId11"/>
    <p:sldId id="281" r:id="rId12"/>
    <p:sldId id="262" r:id="rId13"/>
    <p:sldId id="261" r:id="rId14"/>
    <p:sldId id="263" r:id="rId15"/>
    <p:sldId id="264" r:id="rId16"/>
    <p:sldId id="265" r:id="rId17"/>
    <p:sldId id="269" r:id="rId18"/>
    <p:sldId id="268" r:id="rId19"/>
    <p:sldId id="270" r:id="rId20"/>
    <p:sldId id="271" r:id="rId21"/>
    <p:sldId id="273" r:id="rId22"/>
    <p:sldId id="272" r:id="rId23"/>
    <p:sldId id="275" r:id="rId24"/>
    <p:sldId id="277" r:id="rId25"/>
    <p:sldId id="276" r:id="rId26"/>
    <p:sldId id="274" r:id="rId27"/>
    <p:sldId id="283" r:id="rId28"/>
    <p:sldId id="282" r:id="rId29"/>
    <p:sldId id="284" r:id="rId30"/>
    <p:sldId id="285" r:id="rId31"/>
    <p:sldId id="287" r:id="rId32"/>
    <p:sldId id="286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9" autoAdjust="0"/>
    <p:restoredTop sz="94660"/>
  </p:normalViewPr>
  <p:slideViewPr>
    <p:cSldViewPr snapToGrid="0">
      <p:cViewPr varScale="1">
        <p:scale>
          <a:sx n="85" d="100"/>
          <a:sy n="85" d="100"/>
        </p:scale>
        <p:origin x="72" y="52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프레임에 따른 값의 변화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Sheet1!$C$2:$C$18</c:f>
              <c:numCache>
                <c:formatCode>General</c:formatCode>
                <c:ptCount val="17"/>
                <c:pt idx="0">
                  <c:v>3.9349894188492024E-2</c:v>
                </c:pt>
                <c:pt idx="1">
                  <c:v>4.4936537518874935E-2</c:v>
                </c:pt>
                <c:pt idx="2">
                  <c:v>5.2341512936219803E-2</c:v>
                </c:pt>
                <c:pt idx="3">
                  <c:v>6.2611220718147828E-2</c:v>
                </c:pt>
                <c:pt idx="4">
                  <c:v>7.7765075264957809E-2</c:v>
                </c:pt>
                <c:pt idx="5">
                  <c:v>0.10221472216616102</c:v>
                </c:pt>
                <c:pt idx="6">
                  <c:v>0.14740486694455721</c:v>
                </c:pt>
                <c:pt idx="7">
                  <c:v>0.24987319637023941</c:v>
                </c:pt>
                <c:pt idx="8">
                  <c:v>0.5</c:v>
                </c:pt>
                <c:pt idx="9">
                  <c:v>0.7501268036297607</c:v>
                </c:pt>
                <c:pt idx="10">
                  <c:v>0.85259513305544288</c:v>
                </c:pt>
                <c:pt idx="11">
                  <c:v>0.89778527783383899</c:v>
                </c:pt>
                <c:pt idx="12">
                  <c:v>0.92223492473504221</c:v>
                </c:pt>
                <c:pt idx="13">
                  <c:v>0.93738877928185216</c:v>
                </c:pt>
                <c:pt idx="14">
                  <c:v>0.9476584870637802</c:v>
                </c:pt>
                <c:pt idx="15">
                  <c:v>0.95506346248112506</c:v>
                </c:pt>
                <c:pt idx="16">
                  <c:v>0.960650105811508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7688752"/>
        <c:axId val="417689840"/>
      </c:lineChart>
      <c:catAx>
        <c:axId val="4176887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7689840"/>
        <c:crosses val="autoZero"/>
        <c:auto val="1"/>
        <c:lblAlgn val="ctr"/>
        <c:lblOffset val="100"/>
        <c:noMultiLvlLbl val="0"/>
      </c:catAx>
      <c:valAx>
        <c:axId val="417689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7688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50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43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04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07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51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43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01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02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7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31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666D9-C5D4-46C4-9573-5DCA4D6140FD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D9BFC-D97F-4807-A8AD-A8BF36D326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79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 smtClean="0"/>
              <a:t>CUSTOMIZE HOMEWORLD2 FROM SCRATCH</a:t>
            </a:r>
            <a:endParaRPr lang="ko-KR" altLang="en-US" sz="3200" b="1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788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773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68" y="548640"/>
            <a:ext cx="2631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COORDINATE SYSTEM</a:t>
            </a:r>
            <a:endParaRPr lang="ko-KR" altLang="en-US" b="1"/>
          </a:p>
        </p:txBody>
      </p:sp>
      <p:cxnSp>
        <p:nvCxnSpPr>
          <p:cNvPr id="6" name="직선 연결선 5"/>
          <p:cNvCxnSpPr/>
          <p:nvPr/>
        </p:nvCxnSpPr>
        <p:spPr>
          <a:xfrm>
            <a:off x="6096000" y="1251679"/>
            <a:ext cx="0" cy="4369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H="1" flipV="1">
            <a:off x="3927423" y="3429000"/>
            <a:ext cx="4339653" cy="7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H="1">
            <a:off x="3927423" y="1993692"/>
            <a:ext cx="4339653" cy="2870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64511" y="1566472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-z</a:t>
            </a: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290114" y="486430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z</a:t>
            </a: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709356" y="5606321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-y</a:t>
            </a: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607404" y="917972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y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504480" y="3244334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3436148" y="324433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-x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38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PHYSICS</a:t>
            </a:r>
            <a:endParaRPr lang="ko-KR" altLang="en-US" b="1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00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2269" y="344773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System International Unit</a:t>
            </a:r>
            <a:endParaRPr lang="ko-KR" alt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786984" y="125167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단위계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747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6667" y="482600"/>
            <a:ext cx="1158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direction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02898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5411" y="746150"/>
            <a:ext cx="2483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FRAME PER SECOND</a:t>
            </a:r>
            <a:endParaRPr lang="ko-KR" alt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4030675" y="3306470"/>
            <a:ext cx="32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1000 millisecond / 60 frame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895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542" y="468173"/>
            <a:ext cx="126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VARIABLE</a:t>
            </a:r>
            <a:endParaRPr lang="ko-KR" alt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1528876" y="2245765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시간에 따른 연속적인 변화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698096" y="716890"/>
            <a:ext cx="72042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사용자가 값을 </a:t>
            </a:r>
            <a:r>
              <a:rPr lang="en-US" altLang="ko-KR" dirty="0" smtClean="0"/>
              <a:t>0</a:t>
            </a:r>
            <a:r>
              <a:rPr lang="ko-KR" altLang="en-US" smtClean="0"/>
              <a:t>에서 </a:t>
            </a:r>
            <a:r>
              <a:rPr lang="en-US" altLang="ko-KR" dirty="0" smtClean="0"/>
              <a:t>1</a:t>
            </a:r>
            <a:r>
              <a:rPr lang="ko-KR" altLang="en-US" smtClean="0"/>
              <a:t>로 증가시키면 </a:t>
            </a:r>
            <a:r>
              <a:rPr lang="en-US" altLang="ko-KR" dirty="0" smtClean="0"/>
              <a:t>1</a:t>
            </a:r>
            <a:r>
              <a:rPr lang="ko-KR" altLang="en-US" smtClean="0"/>
              <a:t>로 바로 증가되는 것이</a:t>
            </a:r>
            <a:endParaRPr lang="en-US" altLang="ko-KR" dirty="0" smtClean="0"/>
          </a:p>
          <a:p>
            <a:r>
              <a:rPr lang="ko-KR" altLang="en-US" dirty="0" smtClean="0"/>
              <a:t>아니라 </a:t>
            </a:r>
            <a:r>
              <a:rPr lang="en-US" altLang="ko-KR" dirty="0" smtClean="0"/>
              <a:t>0.001, 0.003, 0.005, … </a:t>
            </a:r>
            <a:r>
              <a:rPr lang="ko-KR" altLang="en-US" smtClean="0"/>
              <a:t>로</a:t>
            </a:r>
            <a:r>
              <a:rPr lang="en-US" altLang="ko-KR" dirty="0" smtClean="0"/>
              <a:t> </a:t>
            </a:r>
            <a:r>
              <a:rPr lang="ko-KR" altLang="en-US" smtClean="0"/>
              <a:t>점진적으로 증가된다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 변화율은 선형적이지 않고 비선형적이며</a:t>
            </a:r>
            <a:r>
              <a:rPr lang="en-US" altLang="ko-KR" dirty="0" smtClean="0"/>
              <a:t>, MIN, MAX </a:t>
            </a:r>
            <a:r>
              <a:rPr lang="ko-KR" altLang="en-US" smtClean="0"/>
              <a:t>근처에서는 </a:t>
            </a:r>
            <a:endParaRPr lang="en-US" altLang="ko-KR" dirty="0" smtClean="0"/>
          </a:p>
          <a:p>
            <a:r>
              <a:rPr lang="ko-KR" altLang="en-US" dirty="0" smtClean="0"/>
              <a:t>천천히 변화하며</a:t>
            </a:r>
            <a:r>
              <a:rPr lang="en-US" altLang="ko-KR" dirty="0" smtClean="0"/>
              <a:t>, </a:t>
            </a:r>
            <a:r>
              <a:rPr lang="ko-KR" altLang="en-US" smtClean="0"/>
              <a:t>중간에서는 급격하게 변화한다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aphicFrame>
        <p:nvGraphicFramePr>
          <p:cNvPr id="7" name="차트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869119"/>
              </p:ext>
            </p:extLst>
          </p:nvPr>
        </p:nvGraphicFramePr>
        <p:xfrm>
          <a:off x="1264310" y="332547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05626" y="2615097"/>
            <a:ext cx="5323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상태변화 상태에서 값이 변화하면 </a:t>
            </a:r>
            <a:r>
              <a:rPr lang="ko-KR" altLang="en-US" dirty="0" err="1" smtClean="0"/>
              <a:t>인터발은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¼</a:t>
            </a:r>
            <a:r>
              <a:rPr lang="ko-KR" altLang="en-US" smtClean="0"/>
              <a:t>로</a:t>
            </a:r>
            <a:endParaRPr lang="en-US" altLang="ko-KR" dirty="0" smtClean="0"/>
          </a:p>
          <a:p>
            <a:r>
              <a:rPr lang="ko-KR" altLang="en-US" dirty="0" smtClean="0"/>
              <a:t>줄어든다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605626" y="4078225"/>
                <a:ext cx="3297378" cy="489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×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626" y="4078225"/>
                <a:ext cx="3297378" cy="48981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629062" y="4919473"/>
                <a:ext cx="2151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062" y="4919473"/>
                <a:ext cx="215122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9444" r="-16667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605626" y="5270907"/>
                <a:ext cx="2121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626" y="5270907"/>
                <a:ext cx="212174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8824" r="-8824"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608832" y="5760840"/>
                <a:ext cx="2155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832" y="5760840"/>
                <a:ext cx="215572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20000" r="-20000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132320" y="482714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변화 비례 상수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132319" y="5224740"/>
            <a:ext cx="3174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프레임 </a:t>
            </a:r>
            <a:r>
              <a:rPr lang="en-US" altLang="ko-KR" dirty="0" smtClean="0"/>
              <a:t>(1 frame = 16.66666)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9" y="5760840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프레임당 허용된 변화 값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1417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267" y="53340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OBJECT</a:t>
            </a:r>
            <a:endParaRPr lang="ko-KR" altLang="en-US" b="1"/>
          </a:p>
        </p:txBody>
      </p:sp>
      <p:sp>
        <p:nvSpPr>
          <p:cNvPr id="3" name="TextBox 2"/>
          <p:cNvSpPr txBox="1"/>
          <p:nvPr/>
        </p:nvSpPr>
        <p:spPr>
          <a:xfrm>
            <a:off x="3616380" y="3824069"/>
            <a:ext cx="14863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velocity,</a:t>
            </a:r>
          </a:p>
          <a:p>
            <a:r>
              <a:rPr lang="en-US" altLang="ko-KR" dirty="0" smtClean="0"/>
              <a:t>acceleration,</a:t>
            </a:r>
          </a:p>
          <a:p>
            <a:r>
              <a:rPr lang="en-US" altLang="ko-KR" dirty="0" smtClean="0"/>
              <a:t>energy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787580" y="4868334"/>
            <a:ext cx="91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control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616380" y="4936068"/>
            <a:ext cx="109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calculate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787580" y="4075668"/>
            <a:ext cx="1098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force,</a:t>
            </a:r>
          </a:p>
          <a:p>
            <a:r>
              <a:rPr lang="en-US" altLang="ko-KR" dirty="0" smtClean="0"/>
              <a:t>direction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665313" y="4222003"/>
            <a:ext cx="1098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energy,</a:t>
            </a:r>
          </a:p>
          <a:p>
            <a:r>
              <a:rPr lang="en-US" altLang="ko-KR" dirty="0" smtClean="0"/>
              <a:t>direction</a:t>
            </a: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673585" y="4948200"/>
            <a:ext cx="1029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initialize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710267" y="1380067"/>
            <a:ext cx="14863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velocity,</a:t>
            </a:r>
          </a:p>
          <a:p>
            <a:r>
              <a:rPr lang="en-US" altLang="ko-KR" dirty="0" smtClean="0"/>
              <a:t>acceleration,</a:t>
            </a:r>
          </a:p>
          <a:p>
            <a:r>
              <a:rPr lang="en-US" altLang="ko-KR" dirty="0" smtClean="0"/>
              <a:t>energy,</a:t>
            </a:r>
          </a:p>
          <a:p>
            <a:r>
              <a:rPr lang="en-US" altLang="ko-KR" dirty="0" smtClean="0"/>
              <a:t>force,</a:t>
            </a:r>
          </a:p>
          <a:p>
            <a:r>
              <a:rPr lang="en-US" altLang="ko-KR" dirty="0" smtClean="0"/>
              <a:t>direction,</a:t>
            </a: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814733" y="4936068"/>
            <a:ext cx="36615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초기 방향의 값은 각도이다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그래서 라디안 값으로 변경되어서</a:t>
            </a:r>
            <a:endParaRPr lang="en-US" altLang="ko-KR" dirty="0" smtClean="0"/>
          </a:p>
          <a:p>
            <a:r>
              <a:rPr lang="ko-KR" altLang="en-US" smtClean="0"/>
              <a:t>초기화된다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490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6733" y="567267"/>
            <a:ext cx="1864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ACCELERATION</a:t>
            </a:r>
            <a:endParaRPr lang="ko-KR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638800" y="2971800"/>
                <a:ext cx="1756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𝑘𝑣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1756635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694" r="-694" b="-3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2751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508" y="502170"/>
            <a:ext cx="1594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UNIT FRONT</a:t>
            </a:r>
            <a:endParaRPr lang="ko-KR" altLang="en-US" b="1"/>
          </a:p>
        </p:txBody>
      </p:sp>
      <p:sp>
        <p:nvSpPr>
          <p:cNvPr id="3" name="TextBox 2"/>
          <p:cNvSpPr txBox="1"/>
          <p:nvPr/>
        </p:nvSpPr>
        <p:spPr>
          <a:xfrm>
            <a:off x="1603948" y="1723869"/>
            <a:ext cx="9730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UNIT FRONT </a:t>
            </a:r>
            <a:r>
              <a:rPr lang="ko-KR" altLang="en-US" smtClean="0"/>
              <a:t>를 계산하기 위해서</a:t>
            </a:r>
            <a:endParaRPr lang="en-US" altLang="ko-KR" dirty="0" smtClean="0"/>
          </a:p>
          <a:p>
            <a:r>
              <a:rPr lang="en-US" altLang="ko-KR" dirty="0" smtClean="0"/>
              <a:t>ROTATE </a:t>
            </a:r>
            <a:r>
              <a:rPr lang="ko-KR" altLang="en-US" smtClean="0"/>
              <a:t>시에 </a:t>
            </a:r>
            <a:r>
              <a:rPr lang="en-US" altLang="ko-KR" dirty="0" smtClean="0"/>
              <a:t>X, Y, Z </a:t>
            </a:r>
            <a:r>
              <a:rPr lang="ko-KR" altLang="en-US" smtClean="0"/>
              <a:t>를 순으로 행렬을 구하는 것을 </a:t>
            </a:r>
            <a:r>
              <a:rPr lang="en-US" altLang="ko-KR" dirty="0" smtClean="0"/>
              <a:t>Z, Y, X </a:t>
            </a:r>
            <a:r>
              <a:rPr lang="ko-KR" altLang="en-US" smtClean="0"/>
              <a:t>순으로 구하고 기준축을 </a:t>
            </a:r>
            <a:r>
              <a:rPr lang="en-US" altLang="ko-KR" dirty="0" smtClean="0"/>
              <a:t>{-1, 0, 0},</a:t>
            </a:r>
          </a:p>
          <a:p>
            <a:r>
              <a:rPr lang="en-US" altLang="ko-KR" dirty="0" smtClean="0"/>
              <a:t>{0, -1, 0}, {0, 0, -1} </a:t>
            </a:r>
            <a:r>
              <a:rPr lang="ko-KR" altLang="en-US" smtClean="0"/>
              <a:t>로 회전을 시켰다</a:t>
            </a:r>
            <a:r>
              <a:rPr lang="en-US" altLang="ko-KR" dirty="0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96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LAYER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16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정육면체 13"/>
          <p:cNvSpPr/>
          <p:nvPr/>
        </p:nvSpPr>
        <p:spPr>
          <a:xfrm>
            <a:off x="2995507" y="2290671"/>
            <a:ext cx="2089912" cy="2150534"/>
          </a:xfrm>
          <a:prstGeom prst="cube">
            <a:avLst>
              <a:gd name="adj" fmla="val 446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정육면체 7"/>
          <p:cNvSpPr/>
          <p:nvPr/>
        </p:nvSpPr>
        <p:spPr>
          <a:xfrm>
            <a:off x="2633133" y="2480733"/>
            <a:ext cx="2267712" cy="2326233"/>
          </a:xfrm>
          <a:prstGeom prst="cube">
            <a:avLst>
              <a:gd name="adj" fmla="val 123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정육면체 9"/>
          <p:cNvSpPr/>
          <p:nvPr/>
        </p:nvSpPr>
        <p:spPr>
          <a:xfrm>
            <a:off x="2443479" y="2851574"/>
            <a:ext cx="2089912" cy="2150534"/>
          </a:xfrm>
          <a:prstGeom prst="cube">
            <a:avLst>
              <a:gd name="adj" fmla="val 446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정육면체 11"/>
          <p:cNvSpPr/>
          <p:nvPr/>
        </p:nvSpPr>
        <p:spPr>
          <a:xfrm>
            <a:off x="2267371" y="3034454"/>
            <a:ext cx="2089912" cy="2150534"/>
          </a:xfrm>
          <a:prstGeom prst="cube">
            <a:avLst>
              <a:gd name="adj" fmla="val 446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357283" y="5339267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GUI</a:t>
            </a: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533391" y="4908882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GAME GUI</a:t>
            </a: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900845" y="4511043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WORLD</a:t>
            </a: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181966" y="4087433"/>
            <a:ext cx="17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BACKGROUND</a:t>
            </a: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06458" y="448734"/>
            <a:ext cx="1532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GAME VIEW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790943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2266" y="660400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GUI</a:t>
            </a:r>
            <a:endParaRPr lang="ko-KR" altLang="en-US" b="1"/>
          </a:p>
        </p:txBody>
      </p:sp>
      <p:sp>
        <p:nvSpPr>
          <p:cNvPr id="3" name="TextBox 2"/>
          <p:cNvSpPr txBox="1"/>
          <p:nvPr/>
        </p:nvSpPr>
        <p:spPr>
          <a:xfrm>
            <a:off x="3056467" y="2582333"/>
            <a:ext cx="112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BUTTON</a:t>
            </a:r>
            <a:endParaRPr lang="ko-KR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3056466" y="3056467"/>
            <a:ext cx="1486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SCROLLBAR</a:t>
            </a:r>
            <a:endParaRPr lang="ko-KR" alt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3056466" y="3615267"/>
            <a:ext cx="1957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CHECK BUTTON</a:t>
            </a:r>
            <a:endParaRPr lang="ko-KR" altLang="en-US" b="1"/>
          </a:p>
        </p:txBody>
      </p:sp>
      <p:sp>
        <p:nvSpPr>
          <p:cNvPr id="6" name="TextBox 5"/>
          <p:cNvSpPr txBox="1"/>
          <p:nvPr/>
        </p:nvSpPr>
        <p:spPr>
          <a:xfrm>
            <a:off x="3067687" y="4213200"/>
            <a:ext cx="194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RADIO BUTTON</a:t>
            </a:r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3143887" y="4704267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TEXT BOX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149525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PROGRAMMING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600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8400" y="660400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VIRTUAL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893370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MAP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024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309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CONTROL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28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77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WORLD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439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2400" y="1278467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컨트롤 가능한 </a:t>
            </a:r>
            <a:r>
              <a:rPr lang="ko-KR" altLang="en-US" dirty="0" err="1" smtClean="0"/>
              <a:t>유닛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9908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CAMERA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596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07733" y="474133"/>
            <a:ext cx="371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카메라는 센터를 따라서 움직인다</a:t>
            </a:r>
            <a:r>
              <a:rPr lang="en-US" altLang="ko-KR" dirty="0" smtClean="0"/>
              <a:t>.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607733" y="1879600"/>
            <a:ext cx="848501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나를 바라보는 카메라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smtClean="0"/>
              <a:t>전면</a:t>
            </a:r>
            <a:r>
              <a:rPr lang="en-US" altLang="ko-KR" dirty="0" smtClean="0"/>
              <a:t>, </a:t>
            </a:r>
            <a:r>
              <a:rPr lang="ko-KR" altLang="en-US" smtClean="0"/>
              <a:t>후면</a:t>
            </a:r>
            <a:r>
              <a:rPr lang="en-US" altLang="ko-KR" dirty="0" smtClean="0"/>
              <a:t>, </a:t>
            </a:r>
            <a:r>
              <a:rPr lang="ko-KR" altLang="en-US" smtClean="0"/>
              <a:t>왼쪽</a:t>
            </a:r>
            <a:r>
              <a:rPr lang="en-US" altLang="ko-KR" dirty="0" smtClean="0"/>
              <a:t>, </a:t>
            </a:r>
            <a:r>
              <a:rPr lang="ko-KR" altLang="en-US" smtClean="0"/>
              <a:t>오른쪽</a:t>
            </a:r>
            <a:r>
              <a:rPr lang="en-US" altLang="ko-KR" dirty="0" smtClean="0"/>
              <a:t>, </a:t>
            </a:r>
            <a:r>
              <a:rPr lang="ko-KR" altLang="en-US" smtClean="0"/>
              <a:t>위</a:t>
            </a:r>
            <a:r>
              <a:rPr lang="en-US" altLang="ko-KR" dirty="0" smtClean="0"/>
              <a:t>, </a:t>
            </a:r>
            <a:r>
              <a:rPr lang="ko-KR" altLang="en-US" smtClean="0"/>
              <a:t>아래</a:t>
            </a:r>
            <a:endParaRPr lang="en-US" altLang="ko-KR" dirty="0" smtClean="0"/>
          </a:p>
          <a:p>
            <a:r>
              <a:rPr lang="ko-KR" altLang="en-US" dirty="0" smtClean="0"/>
              <a:t>내가 바라보는 방향을 바라보는 카메라</a:t>
            </a:r>
            <a:endParaRPr lang="en-US" altLang="ko-KR" dirty="0" smtClean="0"/>
          </a:p>
          <a:p>
            <a:r>
              <a:rPr lang="en-US" altLang="ko-KR" dirty="0" smtClean="0"/>
              <a:t>    </a:t>
            </a:r>
            <a:r>
              <a:rPr lang="ko-KR" altLang="en-US" smtClean="0"/>
              <a:t>전면</a:t>
            </a:r>
            <a:r>
              <a:rPr lang="en-US" altLang="ko-KR" dirty="0" smtClean="0"/>
              <a:t>, </a:t>
            </a:r>
            <a:r>
              <a:rPr lang="ko-KR" altLang="en-US" smtClean="0"/>
              <a:t>후면</a:t>
            </a:r>
            <a:r>
              <a:rPr lang="en-US" altLang="ko-KR" dirty="0" smtClean="0"/>
              <a:t>, </a:t>
            </a:r>
            <a:r>
              <a:rPr lang="ko-KR" altLang="en-US" smtClean="0"/>
              <a:t>왼쪽</a:t>
            </a:r>
            <a:r>
              <a:rPr lang="en-US" altLang="ko-KR" dirty="0" smtClean="0"/>
              <a:t>, </a:t>
            </a:r>
            <a:r>
              <a:rPr lang="ko-KR" altLang="en-US" smtClean="0"/>
              <a:t>오른쪽</a:t>
            </a:r>
            <a:r>
              <a:rPr lang="en-US" altLang="ko-KR" dirty="0" smtClean="0"/>
              <a:t>, </a:t>
            </a:r>
            <a:r>
              <a:rPr lang="ko-KR" altLang="en-US" smtClean="0"/>
              <a:t>위</a:t>
            </a:r>
            <a:r>
              <a:rPr lang="en-US" altLang="ko-KR" dirty="0" smtClean="0"/>
              <a:t>, </a:t>
            </a:r>
            <a:r>
              <a:rPr lang="ko-KR" altLang="en-US" smtClean="0"/>
              <a:t>아래</a:t>
            </a:r>
            <a:endParaRPr lang="en-US" altLang="ko-KR" dirty="0" smtClean="0"/>
          </a:p>
          <a:p>
            <a:r>
              <a:rPr lang="ko-KR" altLang="en-US" dirty="0" smtClean="0"/>
              <a:t>물체의 카메라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smtClean="0"/>
              <a:t>내가 바라보는 방향을 바라보면서 내가 바라보는 센터와 일정하게 평행하다</a:t>
            </a:r>
            <a:r>
              <a:rPr lang="en-US" altLang="ko-KR" dirty="0" smtClean="0"/>
              <a:t>.</a:t>
            </a:r>
            <a:r>
              <a:rPr lang="ko-KR" altLang="en-US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월드 카메라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1375833" y="5384800"/>
            <a:ext cx="2125134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1545166" y="4699000"/>
            <a:ext cx="2125134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56378" y="6387068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물체의 카메라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4464171" y="4781034"/>
            <a:ext cx="1486142" cy="8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>
            <a:endCxn id="11" idx="3"/>
          </p:cNvCxnSpPr>
          <p:nvPr/>
        </p:nvCxnSpPr>
        <p:spPr>
          <a:xfrm flipH="1" flipV="1">
            <a:off x="5950313" y="5216267"/>
            <a:ext cx="1824324" cy="24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21371" y="6104467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나의 카메라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8020171" y="4781034"/>
            <a:ext cx="1486142" cy="8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477371" y="6104467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나의 카메라</a:t>
            </a:r>
            <a:endParaRPr lang="ko-KR" altLang="en-US" dirty="0"/>
          </a:p>
        </p:txBody>
      </p:sp>
      <p:cxnSp>
        <p:nvCxnSpPr>
          <p:cNvPr id="19" name="직선 화살표 연결선 18"/>
          <p:cNvCxnSpPr>
            <a:stCxn id="15" idx="3"/>
          </p:cNvCxnSpPr>
          <p:nvPr/>
        </p:nvCxnSpPr>
        <p:spPr>
          <a:xfrm>
            <a:off x="9506313" y="5216267"/>
            <a:ext cx="1398754" cy="24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17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49400" y="1236133"/>
            <a:ext cx="813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Unit</a:t>
            </a:r>
          </a:p>
          <a:p>
            <a:r>
              <a:rPr lang="en-US" altLang="ko-KR" dirty="0" smtClean="0"/>
              <a:t>World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37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정육면체 1"/>
          <p:cNvSpPr/>
          <p:nvPr/>
        </p:nvSpPr>
        <p:spPr>
          <a:xfrm>
            <a:off x="3979332" y="2006600"/>
            <a:ext cx="2880000" cy="2880000"/>
          </a:xfrm>
          <a:prstGeom prst="cub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69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SENARIO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529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4439" y="569626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화성에 첫 거주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54439" y="1254176"/>
            <a:ext cx="420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화성에 자원을 지구에 </a:t>
            </a:r>
            <a:r>
              <a:rPr lang="ko-KR" altLang="en-US" smtClean="0"/>
              <a:t>수송하기 시작함</a:t>
            </a:r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54439" y="193872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거점의 생성</a:t>
            </a:r>
            <a:endParaRPr lang="en-US" altLang="ko-KR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854439" y="2623276"/>
            <a:ext cx="5753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우주의 수송이 민간 기업 차원에서 이루어지기 시작함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54439" y="3244334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우주 해적의 발생</a:t>
            </a:r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854439" y="3865392"/>
            <a:ext cx="5187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수송함대</a:t>
            </a:r>
            <a:r>
              <a:rPr lang="en-US" altLang="ko-KR" dirty="0" smtClean="0"/>
              <a:t>(</a:t>
            </a:r>
            <a:r>
              <a:rPr lang="ko-KR" altLang="en-US" smtClean="0"/>
              <a:t>해적으로부터 화물을 보호하기 위해서</a:t>
            </a:r>
            <a:r>
              <a:rPr lang="en-US" altLang="ko-KR" dirty="0" smtClean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438" y="4486450"/>
            <a:ext cx="11131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우주연합의 탄생 </a:t>
            </a:r>
            <a:r>
              <a:rPr lang="en-US" altLang="ko-KR" dirty="0" smtClean="0"/>
              <a:t>– </a:t>
            </a:r>
            <a:r>
              <a:rPr lang="ko-KR" altLang="en-US" smtClean="0"/>
              <a:t>민간기업의 무장의 한계 </a:t>
            </a:r>
            <a:r>
              <a:rPr lang="en-US" altLang="ko-KR" dirty="0" smtClean="0"/>
              <a:t>(</a:t>
            </a:r>
            <a:r>
              <a:rPr lang="ko-KR" altLang="en-US" smtClean="0"/>
              <a:t>공공을 위한다기 보다는 회사의 득과 실에 의해서 비윤리적인</a:t>
            </a:r>
            <a:endParaRPr lang="en-US" altLang="ko-KR" dirty="0" smtClean="0"/>
          </a:p>
          <a:p>
            <a:r>
              <a:rPr lang="ko-KR" altLang="en-US" dirty="0" smtClean="0"/>
              <a:t>행동도 자행되었던 폐해가 존재</a:t>
            </a:r>
            <a:r>
              <a:rPr lang="en-US" altLang="ko-KR" dirty="0" smtClean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5312" y="3579242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우주 대해적 시대</a:t>
            </a:r>
            <a:endParaRPr lang="en-US" altLang="ko-KR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854437" y="5347491"/>
            <a:ext cx="7516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우주 연합은 공공의 성질이 강했지만</a:t>
            </a:r>
            <a:r>
              <a:rPr lang="en-US" altLang="ko-KR" dirty="0" smtClean="0"/>
              <a:t>, </a:t>
            </a:r>
            <a:r>
              <a:rPr lang="ko-KR" altLang="en-US" smtClean="0"/>
              <a:t>큰 우주를 모두 커바할 수 없었음</a:t>
            </a:r>
            <a:endParaRPr lang="en-US" altLang="ko-KR" dirty="0" smtClean="0"/>
          </a:p>
          <a:p>
            <a:r>
              <a:rPr lang="ko-KR" altLang="en-US" dirty="0" smtClean="0"/>
              <a:t>우주 연합의 부패 </a:t>
            </a:r>
            <a:r>
              <a:rPr lang="en-US" altLang="ko-KR" dirty="0" smtClean="0"/>
              <a:t>: </a:t>
            </a:r>
            <a:r>
              <a:rPr lang="ko-KR" altLang="en-US" smtClean="0"/>
              <a:t>민간 군사 기업의 성장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69206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4439" y="569626"/>
            <a:ext cx="1053205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우주 연합에 권력이 존재하였기 때문에</a:t>
            </a:r>
            <a:r>
              <a:rPr lang="en-US" altLang="ko-KR" dirty="0" smtClean="0"/>
              <a:t>, </a:t>
            </a:r>
            <a:r>
              <a:rPr lang="ko-KR" altLang="en-US" smtClean="0"/>
              <a:t>민간 기업은 우주를 거점으로 활동하면서</a:t>
            </a:r>
            <a:endParaRPr lang="en-US" altLang="ko-KR" dirty="0" smtClean="0"/>
          </a:p>
          <a:p>
            <a:r>
              <a:rPr lang="ko-KR" altLang="en-US" dirty="0" smtClean="0"/>
              <a:t>우주 연합의 입김에 좌지우지되는 상황이 많았음</a:t>
            </a:r>
            <a:r>
              <a:rPr lang="en-US" altLang="ko-KR" dirty="0" smtClean="0"/>
              <a:t>(</a:t>
            </a:r>
            <a:r>
              <a:rPr lang="ko-KR" altLang="en-US" smtClean="0"/>
              <a:t>들어주지 못하면</a:t>
            </a:r>
            <a:r>
              <a:rPr lang="en-US" altLang="ko-KR" dirty="0" smtClean="0"/>
              <a:t>, </a:t>
            </a:r>
            <a:r>
              <a:rPr lang="ko-KR" altLang="en-US" smtClean="0"/>
              <a:t>이권을 빼앗기는 사례의 등장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이 사례의 기업은 큰 우주 군벌이 됨</a:t>
            </a:r>
            <a:r>
              <a:rPr lang="en-US" altLang="ko-KR" dirty="0" smtClean="0"/>
              <a:t>(</a:t>
            </a:r>
            <a:r>
              <a:rPr lang="ko-KR" altLang="en-US" smtClean="0"/>
              <a:t>국가에 지원을 받지 못한채로 밀거래의 큰 축을 담당</a:t>
            </a:r>
            <a:r>
              <a:rPr lang="en-US" altLang="ko-KR" dirty="0" smtClean="0"/>
              <a:t>, </a:t>
            </a:r>
            <a:r>
              <a:rPr lang="ko-KR" altLang="en-US" smtClean="0"/>
              <a:t>이렇게</a:t>
            </a:r>
            <a:endParaRPr lang="en-US" altLang="ko-KR" dirty="0" smtClean="0"/>
          </a:p>
          <a:p>
            <a:r>
              <a:rPr lang="ko-KR" altLang="en-US" dirty="0" smtClean="0"/>
              <a:t>죽지 않고 세력을 유지시켜서 우주에서 입김을 유지</a:t>
            </a:r>
            <a:r>
              <a:rPr lang="en-US" altLang="ko-KR" dirty="0" smtClean="0"/>
              <a:t>, </a:t>
            </a:r>
            <a:r>
              <a:rPr lang="ko-KR" altLang="en-US" smtClean="0"/>
              <a:t>우주 연합이 못건들이는 이유는 하나의 거점을 </a:t>
            </a:r>
            <a:endParaRPr lang="en-US" altLang="ko-KR" dirty="0" smtClean="0"/>
          </a:p>
          <a:p>
            <a:r>
              <a:rPr lang="ko-KR" altLang="en-US" dirty="0" smtClean="0"/>
              <a:t>가지고 있는 것이 아니라 여러 거점을 가지고 있었고</a:t>
            </a:r>
            <a:r>
              <a:rPr lang="en-US" altLang="ko-KR" dirty="0" smtClean="0"/>
              <a:t>, </a:t>
            </a:r>
            <a:r>
              <a:rPr lang="ko-KR" altLang="en-US" smtClean="0"/>
              <a:t>그 무장의 수준 또한 무시 못할 수준이었음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또한</a:t>
            </a:r>
            <a:r>
              <a:rPr lang="en-US" altLang="ko-KR" dirty="0" smtClean="0"/>
              <a:t>, </a:t>
            </a:r>
            <a:r>
              <a:rPr lang="ko-KR" altLang="en-US" smtClean="0"/>
              <a:t>우주 연합에 척을 지지는 않았고</a:t>
            </a:r>
            <a:r>
              <a:rPr lang="en-US" altLang="ko-KR" dirty="0" smtClean="0"/>
              <a:t>, </a:t>
            </a:r>
            <a:r>
              <a:rPr lang="ko-KR" altLang="en-US" smtClean="0"/>
              <a:t>오히려 화물선들을 보호해주어서 우주 연합의 제독들도</a:t>
            </a:r>
            <a:endParaRPr lang="en-US" altLang="ko-KR" dirty="0" smtClean="0"/>
          </a:p>
          <a:p>
            <a:r>
              <a:rPr lang="ko-KR" altLang="en-US" dirty="0" smtClean="0"/>
              <a:t>중간중간 도움을 받기도 함 그래서 암묵적으로 그들을 인정하였고</a:t>
            </a:r>
            <a:r>
              <a:rPr lang="en-US" altLang="ko-KR" dirty="0" smtClean="0"/>
              <a:t>, </a:t>
            </a:r>
            <a:r>
              <a:rPr lang="ko-KR" altLang="en-US" smtClean="0"/>
              <a:t>그들 역시 직접적으로 자신을</a:t>
            </a:r>
            <a:endParaRPr lang="en-US" altLang="ko-KR" dirty="0" smtClean="0"/>
          </a:p>
          <a:p>
            <a:r>
              <a:rPr lang="ko-KR" altLang="en-US" dirty="0" smtClean="0"/>
              <a:t>새로운 국가라 칭하지 않아서</a:t>
            </a:r>
            <a:r>
              <a:rPr lang="en-US" altLang="ko-KR" dirty="0" smtClean="0"/>
              <a:t>, </a:t>
            </a:r>
            <a:r>
              <a:rPr lang="ko-KR" altLang="en-US" smtClean="0"/>
              <a:t>서로 간에 암묵적인 평화가 흐르고 있었음 </a:t>
            </a:r>
            <a:r>
              <a:rPr lang="en-US" altLang="ko-KR" dirty="0" smtClean="0"/>
              <a:t>– </a:t>
            </a:r>
            <a:r>
              <a:rPr lang="ko-KR" altLang="en-US" smtClean="0"/>
              <a:t>그런 침묵은 결국</a:t>
            </a:r>
            <a:endParaRPr lang="en-US" altLang="ko-KR" dirty="0" smtClean="0"/>
          </a:p>
          <a:p>
            <a:r>
              <a:rPr lang="ko-KR" altLang="en-US" dirty="0" smtClean="0"/>
              <a:t>그들의 세력</a:t>
            </a:r>
            <a:r>
              <a:rPr lang="en-US" altLang="ko-KR" dirty="0" smtClean="0"/>
              <a:t>(</a:t>
            </a:r>
            <a:r>
              <a:rPr lang="ko-KR" altLang="en-US" smtClean="0"/>
              <a:t>국가</a:t>
            </a:r>
            <a:r>
              <a:rPr lang="en-US" altLang="ko-KR" dirty="0" smtClean="0"/>
              <a:t>)</a:t>
            </a:r>
            <a:r>
              <a:rPr lang="ko-KR" altLang="en-US" smtClean="0"/>
              <a:t>가 생성되는 것으로 이어짐</a:t>
            </a:r>
            <a:endParaRPr lang="en-US" altLang="ko-KR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951875" y="3889948"/>
            <a:ext cx="101377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연합의 부패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우주 연합은 부패하였고</a:t>
            </a:r>
            <a:r>
              <a:rPr lang="en-US" altLang="ko-KR" dirty="0" smtClean="0"/>
              <a:t>, </a:t>
            </a:r>
            <a:r>
              <a:rPr lang="ko-KR" altLang="en-US" smtClean="0"/>
              <a:t>화성의 인구가 지구의 인구를 추월하기 시작함</a:t>
            </a:r>
            <a:endParaRPr lang="en-US" altLang="ko-KR" dirty="0" smtClean="0"/>
          </a:p>
          <a:p>
            <a:r>
              <a:rPr lang="ko-KR" altLang="en-US" dirty="0" smtClean="0"/>
              <a:t>우주 전체의 인구가 지구에 사는 사람들의 인구를 증가하기 시작함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최초의 화성에 거주하는 사람들은 죽음을 무릅써야 했기 때문에 선택되었고</a:t>
            </a:r>
            <a:r>
              <a:rPr lang="en-US" altLang="ko-KR" dirty="0" smtClean="0"/>
              <a:t>, </a:t>
            </a:r>
            <a:r>
              <a:rPr lang="ko-KR" altLang="en-US" smtClean="0"/>
              <a:t>그들의 수고에 대한</a:t>
            </a:r>
            <a:endParaRPr lang="en-US" altLang="ko-KR" dirty="0" smtClean="0"/>
          </a:p>
          <a:p>
            <a:r>
              <a:rPr lang="ko-KR" altLang="en-US" dirty="0" smtClean="0"/>
              <a:t>보상도 해주었음</a:t>
            </a:r>
            <a:r>
              <a:rPr lang="en-US" altLang="ko-KR" dirty="0" smtClean="0"/>
              <a:t>(</a:t>
            </a:r>
            <a:r>
              <a:rPr lang="ko-KR" altLang="en-US" smtClean="0"/>
              <a:t>불의의 사고에 대한</a:t>
            </a:r>
            <a:r>
              <a:rPr lang="en-US" altLang="ko-KR" dirty="0" smtClean="0"/>
              <a:t>) </a:t>
            </a:r>
            <a:r>
              <a:rPr lang="ko-KR" altLang="en-US" smtClean="0"/>
              <a:t>하지만 그 수가 증가하고 그 비용이 만만하지 않아서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점점 까다로워지기 시작했음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388911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7023" y="719528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목성의 개척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27023" y="2468380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화성의 독립운동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033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CONCEPT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669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정육면체 1"/>
          <p:cNvSpPr/>
          <p:nvPr/>
        </p:nvSpPr>
        <p:spPr>
          <a:xfrm>
            <a:off x="4297179" y="2615783"/>
            <a:ext cx="2485869" cy="981856"/>
          </a:xfrm>
          <a:prstGeom prst="cube">
            <a:avLst>
              <a:gd name="adj" fmla="val 675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정육면체 2"/>
          <p:cNvSpPr/>
          <p:nvPr/>
        </p:nvSpPr>
        <p:spPr>
          <a:xfrm>
            <a:off x="6408294" y="2615783"/>
            <a:ext cx="1161739" cy="981856"/>
          </a:xfrm>
          <a:prstGeom prst="cube">
            <a:avLst>
              <a:gd name="adj" fmla="val 675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378314" y="3874957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CRUSIER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641953" y="3874957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BASECAMP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945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552</Words>
  <Application>Microsoft Office PowerPoint</Application>
  <PresentationFormat>와이드스크린</PresentationFormat>
  <Paragraphs>122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맑은 고딕</vt:lpstr>
      <vt:lpstr>Arial</vt:lpstr>
      <vt:lpstr>Cambria Math</vt:lpstr>
      <vt:lpstr>Office 테마</vt:lpstr>
      <vt:lpstr>CUSTOMIZE HOMEWORLD2 FROM SCRATCH</vt:lpstr>
      <vt:lpstr>OPENGL</vt:lpstr>
      <vt:lpstr>PowerPoint 프레젠테이션</vt:lpstr>
      <vt:lpstr>PHYSICS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LAYER</vt:lpstr>
      <vt:lpstr>PowerPoint 프레젠테이션</vt:lpstr>
      <vt:lpstr>PowerPoint 프레젠테이션</vt:lpstr>
      <vt:lpstr>PROGRAMMING</vt:lpstr>
      <vt:lpstr>PowerPoint 프레젠테이션</vt:lpstr>
      <vt:lpstr>MAP</vt:lpstr>
      <vt:lpstr>PowerPoint 프레젠테이션</vt:lpstr>
      <vt:lpstr>CONTROL</vt:lpstr>
      <vt:lpstr>PowerPoint 프레젠테이션</vt:lpstr>
      <vt:lpstr>WORLD</vt:lpstr>
      <vt:lpstr>PowerPoint 프레젠테이션</vt:lpstr>
      <vt:lpstr>CAMERA</vt:lpstr>
      <vt:lpstr>PowerPoint 프레젠테이션</vt:lpstr>
      <vt:lpstr>PowerPoint 프레젠테이션</vt:lpstr>
      <vt:lpstr>PowerPoint 프레젠테이션</vt:lpstr>
      <vt:lpstr>SENARIO</vt:lpstr>
      <vt:lpstr>PowerPoint 프레젠테이션</vt:lpstr>
      <vt:lpstr>PowerPoint 프레젠테이션</vt:lpstr>
      <vt:lpstr>PowerPoint 프레젠테이션</vt:lpstr>
      <vt:lpstr>CONCEPT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CUSTOMIZE HOMEWORLD2 FROM SCRATCH</dc:title>
  <dc:creator>Microsoft 계정</dc:creator>
  <cp:lastModifiedBy>Microsoft 계정</cp:lastModifiedBy>
  <cp:revision>27</cp:revision>
  <dcterms:created xsi:type="dcterms:W3CDTF">2020-03-30T02:08:32Z</dcterms:created>
  <dcterms:modified xsi:type="dcterms:W3CDTF">2020-04-01T11:57:02Z</dcterms:modified>
</cp:coreProperties>
</file>